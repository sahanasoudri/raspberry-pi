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0"/>
  </p:notesMasterIdLst>
  <p:sldIdLst>
    <p:sldId id="475" r:id="rId2"/>
    <p:sldId id="470" r:id="rId3"/>
    <p:sldId id="479" r:id="rId4"/>
    <p:sldId id="480" r:id="rId5"/>
    <p:sldId id="481" r:id="rId6"/>
    <p:sldId id="473" r:id="rId7"/>
    <p:sldId id="476" r:id="rId8"/>
    <p:sldId id="468" r:id="rId9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36" autoAdjust="0"/>
    <p:restoredTop sz="86414" autoAdjust="0"/>
  </p:normalViewPr>
  <p:slideViewPr>
    <p:cSldViewPr snapToGrid="0">
      <p:cViewPr>
        <p:scale>
          <a:sx n="75" d="100"/>
          <a:sy n="75" d="100"/>
        </p:scale>
        <p:origin x="-1200" y="-34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230" y="6221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Phase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19/12/2023.</a:t>
          </a:r>
        </a:p>
        <a:p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By First Phase review we have com </a:t>
          </a:r>
          <a:r>
            <a:rPr lang="en-US" sz="11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pleted</a:t>
          </a:r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 all research work related to the 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components</a:t>
          </a:r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 and working of our project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Phase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22</a:t>
          </a:r>
          <a:r>
            <a:rPr lang="en-US" baseline="30000" dirty="0">
              <a:latin typeface="Times New Roman" panose="02020603050405020304" pitchFamily="18" charset="0"/>
              <a:cs typeface="Times New Roman" panose="02020603050405020304" pitchFamily="18" charset="0"/>
            </a:rPr>
            <a:t>nd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/23</a:t>
          </a:r>
          <a:r>
            <a:rPr lang="en-US" baseline="30000" dirty="0">
              <a:latin typeface="Times New Roman" panose="02020603050405020304" pitchFamily="18" charset="0"/>
              <a:cs typeface="Times New Roman" panose="02020603050405020304" pitchFamily="18" charset="0"/>
            </a:rPr>
            <a:t>rd,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03/2024.By 2nd review we have assembled most of our project hardware and would have started on the software side of it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Phase</a:t>
          </a:r>
          <a:r>
            <a:rPr lang="en-US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3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27</a:t>
          </a:r>
          <a:r>
            <a:rPr lang="en-US" baseline="30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th/28th </a:t>
          </a:r>
          <a:r>
            <a:rPr lang="en-US" baseline="30000" dirty="0">
              <a:latin typeface="Times New Roman" panose="02020603050405020304" pitchFamily="18" charset="0"/>
              <a:cs typeface="Times New Roman" panose="02020603050405020304" pitchFamily="18" charset="0"/>
            </a:rPr>
            <a:t>may,2024</a:t>
          </a: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By 3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rd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phase we would have a working model of our project to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demonstare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our idea in practically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0" presStyleCnt="3"/>
      <dgm:spPr/>
      <dgm:t>
        <a:bodyPr/>
        <a:lstStyle/>
        <a:p>
          <a:endParaRPr lang="en-IN"/>
        </a:p>
      </dgm:t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C66D42D-7E6D-4563-AFDC-369C30B73F70}" type="pres">
      <dgm:prSet presAssocID="{A59EC69B-8F3F-425B-819F-E8C557946AEE}" presName="Parent3" presStyleLbl="node1" presStyleIdx="0" presStyleCnt="3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1" presStyleCnt="3" custLinFactNeighborX="-620"/>
      <dgm:spPr/>
      <dgm:t>
        <a:bodyPr/>
        <a:lstStyle/>
        <a:p>
          <a:endParaRPr lang="en-IN"/>
        </a:p>
      </dgm:t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0BB3360-A9BB-4051-A4B1-1216F82F642C}" type="pres">
      <dgm:prSet presAssocID="{7B3055AA-BF7C-46D0-9A9E-60087B9F57B4}" presName="Parent2" presStyleLbl="node1" presStyleIdx="1" presStyleCnt="3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2" presStyleCnt="3" custScaleX="115924" custScaleY="103148" custLinFactNeighborX="-1912" custLinFactNeighborY="2501"/>
      <dgm:spPr/>
      <dgm:t>
        <a:bodyPr/>
        <a:lstStyle/>
        <a:p>
          <a:endParaRPr lang="en-IN"/>
        </a:p>
      </dgm:t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5257024-FAC0-4522-B139-1CC85B547BE8}" type="pres">
      <dgm:prSet presAssocID="{988D96B0-D16E-4763-B393-84178CF4FF50}" presName="Parent1" presStyleLbl="node1" presStyleIdx="2" presStyleCnt="3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45270D25-428B-4D13-96B6-70A52338AE53}" type="presOf" srcId="{988D96B0-D16E-4763-B393-84178CF4FF50}" destId="{65257024-FAC0-4522-B139-1CC85B547BE8}" srcOrd="0" destOrd="0" presId="urn:microsoft.com/office/officeart/2011/layout/InterconnectedBlockProcess"/>
    <dgm:cxn modelId="{EE32DD29-1088-4A6B-ABC7-885A718C60CA}" type="presOf" srcId="{D471E45F-B026-44AA-9616-57E786AE80AF}" destId="{A134CDD1-D85F-44EF-8BEE-9F99A855C1E6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7968BEFA-737C-4540-8116-892FA4A56765}" type="presOf" srcId="{73DB572E-062D-41AD-8033-D361B8E583DB}" destId="{0D08ED52-6744-4369-B780-916B09984775}" srcOrd="1" destOrd="0" presId="urn:microsoft.com/office/officeart/2011/layout/InterconnectedBlockProcess"/>
    <dgm:cxn modelId="{F68F949A-245C-4136-B9D7-9229F30FDEC9}" type="presOf" srcId="{A59EC69B-8F3F-425B-819F-E8C557946AEE}" destId="{4C66D42D-7E6D-4563-AFDC-369C30B73F70}" srcOrd="0" destOrd="0" presId="urn:microsoft.com/office/officeart/2011/layout/InterconnectedBlockProcess"/>
    <dgm:cxn modelId="{5088B72B-A58C-4D5F-B56F-2A1C0C405D92}" type="presOf" srcId="{7B3055AA-BF7C-46D0-9A9E-60087B9F57B4}" destId="{00BB3360-A9BB-4051-A4B1-1216F82F642C}" srcOrd="0" destOrd="0" presId="urn:microsoft.com/office/officeart/2011/layout/InterconnectedBlockProcess"/>
    <dgm:cxn modelId="{1CF0C9EC-03B3-43C7-AC62-87DAFD9D1635}" type="presOf" srcId="{9FED87C4-3F3B-4A18-9185-9F80CFEDEA2E}" destId="{06F8D57B-EDF4-4CF4-8700-DC2CA3E3028E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ED6BF78A-381A-40F3-A9EB-F252D63F0707}" type="presOf" srcId="{73DB572E-062D-41AD-8033-D361B8E583DB}" destId="{2532504F-5FE1-4C97-B485-F05E8885EACC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02D0CD8C-C59F-405A-AAC8-89AA97D36D41}" type="presOf" srcId="{9FED87C4-3F3B-4A18-9185-9F80CFEDEA2E}" destId="{6BCCFBA6-7A43-4631-AD7F-AFB10E1E6CD7}" srcOrd="1" destOrd="0" presId="urn:microsoft.com/office/officeart/2011/layout/InterconnectedBlockProcess"/>
    <dgm:cxn modelId="{A89E8CCE-DC9D-4BC1-984D-FEF289B82C65}" type="presOf" srcId="{5751524B-FB67-4894-A0C5-35151E149D68}" destId="{A6BCDA7B-D633-438F-B44D-CB4D60E5C492}" srcOrd="0" destOrd="0" presId="urn:microsoft.com/office/officeart/2011/layout/InterconnectedBlockProcess"/>
    <dgm:cxn modelId="{E3292D60-84FF-4CC1-B475-12D7D4F90772}" type="presOf" srcId="{D471E45F-B026-44AA-9616-57E786AE80AF}" destId="{1C91D7E3-8940-4A33-9182-677DD5415901}" srcOrd="1" destOrd="0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8763BB5B-6F4C-4D47-85B1-62610FE5B298}" type="presParOf" srcId="{A6BCDA7B-D633-438F-B44D-CB4D60E5C492}" destId="{96AFCF47-32CA-4C44-9E3C-782007B7112E}" srcOrd="0" destOrd="0" presId="urn:microsoft.com/office/officeart/2011/layout/InterconnectedBlockProcess"/>
    <dgm:cxn modelId="{DEC84310-B2F7-4E69-8F89-299DFF887707}" type="presParOf" srcId="{96AFCF47-32CA-4C44-9E3C-782007B7112E}" destId="{2532504F-5FE1-4C97-B485-F05E8885EACC}" srcOrd="0" destOrd="0" presId="urn:microsoft.com/office/officeart/2011/layout/InterconnectedBlockProcess"/>
    <dgm:cxn modelId="{411A5A8E-BF9A-4918-B1BF-97B5D2E1CE75}" type="presParOf" srcId="{A6BCDA7B-D633-438F-B44D-CB4D60E5C492}" destId="{0D08ED52-6744-4369-B780-916B09984775}" srcOrd="1" destOrd="0" presId="urn:microsoft.com/office/officeart/2011/layout/InterconnectedBlockProcess"/>
    <dgm:cxn modelId="{F96AEFC3-668C-485E-AC28-DE7FA02228A9}" type="presParOf" srcId="{A6BCDA7B-D633-438F-B44D-CB4D60E5C492}" destId="{4C66D42D-7E6D-4563-AFDC-369C30B73F70}" srcOrd="2" destOrd="0" presId="urn:microsoft.com/office/officeart/2011/layout/InterconnectedBlockProcess"/>
    <dgm:cxn modelId="{7911F644-0138-4A4E-B810-F025BD63CD8F}" type="presParOf" srcId="{A6BCDA7B-D633-438F-B44D-CB4D60E5C492}" destId="{C1269CE6-C767-48CC-AAFD-A238D1FFDABA}" srcOrd="3" destOrd="0" presId="urn:microsoft.com/office/officeart/2011/layout/InterconnectedBlockProcess"/>
    <dgm:cxn modelId="{5AA2FD48-021E-4A53-964C-DD52EA8D7653}" type="presParOf" srcId="{C1269CE6-C767-48CC-AAFD-A238D1FFDABA}" destId="{06F8D57B-EDF4-4CF4-8700-DC2CA3E3028E}" srcOrd="0" destOrd="0" presId="urn:microsoft.com/office/officeart/2011/layout/InterconnectedBlockProcess"/>
    <dgm:cxn modelId="{ABEDFE72-13B5-44DF-B596-B4EEFE4E8FE3}" type="presParOf" srcId="{A6BCDA7B-D633-438F-B44D-CB4D60E5C492}" destId="{6BCCFBA6-7A43-4631-AD7F-AFB10E1E6CD7}" srcOrd="4" destOrd="0" presId="urn:microsoft.com/office/officeart/2011/layout/InterconnectedBlockProcess"/>
    <dgm:cxn modelId="{214D504B-4CBF-4B7C-A0E7-B63D10D9DDB1}" type="presParOf" srcId="{A6BCDA7B-D633-438F-B44D-CB4D60E5C492}" destId="{00BB3360-A9BB-4051-A4B1-1216F82F642C}" srcOrd="5" destOrd="0" presId="urn:microsoft.com/office/officeart/2011/layout/InterconnectedBlockProcess"/>
    <dgm:cxn modelId="{07B34F88-773E-4FE4-8638-A7CCDA760808}" type="presParOf" srcId="{A6BCDA7B-D633-438F-B44D-CB4D60E5C492}" destId="{7305DF14-0FF5-45E4-8B19-015814092DBD}" srcOrd="6" destOrd="0" presId="urn:microsoft.com/office/officeart/2011/layout/InterconnectedBlockProcess"/>
    <dgm:cxn modelId="{362691DD-4B1E-4FC2-8550-02C45B3B7FBC}" type="presParOf" srcId="{7305DF14-0FF5-45E4-8B19-015814092DBD}" destId="{A134CDD1-D85F-44EF-8BEE-9F99A855C1E6}" srcOrd="0" destOrd="0" presId="urn:microsoft.com/office/officeart/2011/layout/InterconnectedBlockProcess"/>
    <dgm:cxn modelId="{63B69D61-D405-4261-BFDE-C503872760F8}" type="presParOf" srcId="{A6BCDA7B-D633-438F-B44D-CB4D60E5C492}" destId="{1C91D7E3-8940-4A33-9182-677DD5415901}" srcOrd="7" destOrd="0" presId="urn:microsoft.com/office/officeart/2011/layout/InterconnectedBlockProcess"/>
    <dgm:cxn modelId="{C9F769F8-3C09-4DEC-B20E-9972D58EEAFC}" type="presParOf" srcId="{A6BCDA7B-D633-438F-B44D-CB4D60E5C492}" destId="{65257024-FAC0-4522-B139-1CC85B547BE8}" srcOrd="8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2504F-5FE1-4C97-B485-F05E8885EACC}">
      <dsp:nvSpPr>
        <dsp:cNvPr id="0" name=""/>
        <dsp:cNvSpPr/>
      </dsp:nvSpPr>
      <dsp:spPr>
        <a:xfrm>
          <a:off x="6070604" y="713024"/>
          <a:ext cx="1505304" cy="3345170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lvl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27</a:t>
          </a:r>
          <a:r>
            <a:rPr lang="en-US" sz="1100" kern="1200" baseline="30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th/28th </a:t>
          </a:r>
          <a:r>
            <a:rPr lang="en-US" sz="1100" kern="1200" baseline="30000" dirty="0">
              <a:latin typeface="Times New Roman" panose="02020603050405020304" pitchFamily="18" charset="0"/>
              <a:cs typeface="Times New Roman" panose="02020603050405020304" pitchFamily="18" charset="0"/>
            </a:rPr>
            <a:t>may,2024</a:t>
          </a:r>
        </a:p>
        <a:p>
          <a:pPr lvl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By 3 </a:t>
          </a:r>
          <a:r>
            <a:rPr lang="en-US" sz="1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rd</a:t>
          </a: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phase we would have a working model of our project to </a:t>
          </a:r>
          <a:r>
            <a:rPr lang="en-US" sz="1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demonstare</a:t>
          </a: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our idea in practically</a:t>
          </a:r>
        </a:p>
      </dsp:txBody>
      <dsp:txXfrm>
        <a:off x="6261646" y="713024"/>
        <a:ext cx="1314262" cy="3345170"/>
      </dsp:txXfrm>
    </dsp:sp>
    <dsp:sp modelId="{4C66D42D-7E6D-4563-AFDC-369C30B73F70}">
      <dsp:nvSpPr>
        <dsp:cNvPr id="0" name=""/>
        <dsp:cNvSpPr/>
      </dsp:nvSpPr>
      <dsp:spPr>
        <a:xfrm>
          <a:off x="6070604" y="0"/>
          <a:ext cx="1505304" cy="7142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Phase</a:t>
          </a:r>
          <a:r>
            <a:rPr lang="en-US" sz="24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3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70604" y="0"/>
        <a:ext cx="1505304" cy="714242"/>
      </dsp:txXfrm>
    </dsp:sp>
    <dsp:sp modelId="{06F8D57B-EDF4-4CF4-8700-DC2CA3E3028E}">
      <dsp:nvSpPr>
        <dsp:cNvPr id="0" name=""/>
        <dsp:cNvSpPr/>
      </dsp:nvSpPr>
      <dsp:spPr>
        <a:xfrm>
          <a:off x="4555515" y="713024"/>
          <a:ext cx="1505304" cy="3106548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lvl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22</a:t>
          </a:r>
          <a:r>
            <a:rPr lang="en-US" sz="1100" kern="1200" baseline="30000" dirty="0">
              <a:latin typeface="Times New Roman" panose="02020603050405020304" pitchFamily="18" charset="0"/>
              <a:cs typeface="Times New Roman" panose="02020603050405020304" pitchFamily="18" charset="0"/>
            </a:rPr>
            <a:t>nd</a:t>
          </a: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/23</a:t>
          </a:r>
          <a:r>
            <a:rPr lang="en-US" sz="1100" kern="1200" baseline="30000" dirty="0">
              <a:latin typeface="Times New Roman" panose="02020603050405020304" pitchFamily="18" charset="0"/>
              <a:cs typeface="Times New Roman" panose="02020603050405020304" pitchFamily="18" charset="0"/>
            </a:rPr>
            <a:t>rd,</a:t>
          </a: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03/2024.By 2nd review we have assembled most of our project hardware and would have started on the software side of it</a:t>
          </a:r>
        </a:p>
      </dsp:txBody>
      <dsp:txXfrm>
        <a:off x="4746557" y="713024"/>
        <a:ext cx="1314262" cy="3106548"/>
      </dsp:txXfrm>
    </dsp:sp>
    <dsp:sp modelId="{00BB3360-A9BB-4051-A4B1-1216F82F642C}">
      <dsp:nvSpPr>
        <dsp:cNvPr id="0" name=""/>
        <dsp:cNvSpPr/>
      </dsp:nvSpPr>
      <dsp:spPr>
        <a:xfrm>
          <a:off x="4564848" y="115658"/>
          <a:ext cx="1505304" cy="5973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Phase 2</a:t>
          </a:r>
        </a:p>
      </dsp:txBody>
      <dsp:txXfrm>
        <a:off x="4564848" y="115658"/>
        <a:ext cx="1505304" cy="597366"/>
      </dsp:txXfrm>
    </dsp:sp>
    <dsp:sp modelId="{A134CDD1-D85F-44EF-8BEE-9F99A855C1E6}">
      <dsp:nvSpPr>
        <dsp:cNvPr id="0" name=""/>
        <dsp:cNvSpPr/>
      </dsp:nvSpPr>
      <dsp:spPr>
        <a:xfrm>
          <a:off x="2910909" y="739606"/>
          <a:ext cx="1745009" cy="2957790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lvl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19/12/2023.</a:t>
          </a:r>
        </a:p>
        <a:p>
          <a:pPr lvl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By First Phase review we have com </a:t>
          </a:r>
          <a:r>
            <a:rPr lang="en-US" sz="1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pleted</a:t>
          </a: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all research work related to the 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components</a:t>
          </a: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and working of our project</a:t>
          </a:r>
        </a:p>
      </dsp:txBody>
      <dsp:txXfrm>
        <a:off x="3132373" y="739606"/>
        <a:ext cx="1523545" cy="2957790"/>
      </dsp:txXfrm>
    </dsp:sp>
    <dsp:sp modelId="{65257024-FAC0-4522-B139-1CC85B547BE8}">
      <dsp:nvSpPr>
        <dsp:cNvPr id="0" name=""/>
        <dsp:cNvSpPr/>
      </dsp:nvSpPr>
      <dsp:spPr>
        <a:xfrm>
          <a:off x="3059543" y="234969"/>
          <a:ext cx="1505304" cy="4780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Phase 1</a:t>
          </a:r>
        </a:p>
      </dsp:txBody>
      <dsp:txXfrm>
        <a:off x="3059543" y="234969"/>
        <a:ext cx="1505304" cy="478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xmlns="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xmlns="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xmlns="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0629"/>
            <a:ext cx="10515600" cy="1560060"/>
          </a:xfrm>
        </p:spPr>
        <p:txBody>
          <a:bodyPr/>
          <a:lstStyle/>
          <a:p>
            <a:pPr algn="ctr"/>
            <a:r>
              <a:rPr lang="en-I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Innovative Projects Using Raspberry Pi  (ECE2011) 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Phase </a:t>
            </a:r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–III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 Presentation </a:t>
            </a:r>
            <a:b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/>
            </a:r>
            <a:b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WATER HARVESTING</a:t>
            </a:r>
            <a:b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2868"/>
            <a:ext cx="10515600" cy="4275296"/>
          </a:xfrm>
        </p:spPr>
        <p:txBody>
          <a:bodyPr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marL="0" indent="0" algn="ctr"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IPR-344</a:t>
            </a:r>
          </a:p>
          <a:p>
            <a:pPr marL="0" indent="0" algn="ctr">
              <a:buNone/>
            </a:pPr>
            <a:endParaRPr lang="en-US" sz="1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eaLnBrk="1" hangingPunct="1">
              <a:buNone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 </a:t>
            </a:r>
          </a:p>
          <a:p>
            <a:pPr marL="0" indent="0" algn="ctr" eaLnBrk="1" hangingPunct="1">
              <a:buNone/>
              <a:defRPr/>
            </a:pPr>
            <a:r>
              <a:rPr lang="en-IN" sz="2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Dr.Mohammed</a:t>
            </a:r>
            <a:r>
              <a:rPr lang="en-I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Mujahidulla</a:t>
            </a:r>
            <a:r>
              <a:rPr lang="en-I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Faiz</a:t>
            </a:r>
            <a:r>
              <a:rPr lang="en-IN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 </a:t>
            </a:r>
            <a:r>
              <a:rPr lang="en-IN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r>
              <a:rPr lang="en-IN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Electronic And Communication Engineering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1F53AD07-26E3-AE10-245D-789384514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377413"/>
              </p:ext>
            </p:extLst>
          </p:nvPr>
        </p:nvGraphicFramePr>
        <p:xfrm>
          <a:off x="2976464" y="2268997"/>
          <a:ext cx="726751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3756">
                  <a:extLst>
                    <a:ext uri="{9D8B030D-6E8A-4147-A177-3AD203B41FA5}">
                      <a16:colId xmlns:a16="http://schemas.microsoft.com/office/drawing/2014/main" xmlns="" val="296419496"/>
                    </a:ext>
                  </a:extLst>
                </a:gridCol>
                <a:gridCol w="3633756">
                  <a:extLst>
                    <a:ext uri="{9D8B030D-6E8A-4147-A177-3AD203B41FA5}">
                      <a16:colId xmlns:a16="http://schemas.microsoft.com/office/drawing/2014/main" xmlns="" val="3096527454"/>
                    </a:ext>
                  </a:extLst>
                </a:gridCol>
              </a:tblGrid>
              <a:tr h="31267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06923006"/>
                  </a:ext>
                </a:extLst>
              </a:tr>
              <a:tr h="312679">
                <a:tc>
                  <a:txBody>
                    <a:bodyPr/>
                    <a:lstStyle/>
                    <a:p>
                      <a:r>
                        <a:rPr lang="en-IN" dirty="0"/>
                        <a:t>             Bindu C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20221CSG0142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69671054"/>
                  </a:ext>
                </a:extLst>
              </a:tr>
              <a:tr h="312679">
                <a:tc>
                  <a:txBody>
                    <a:bodyPr/>
                    <a:lstStyle/>
                    <a:p>
                      <a:r>
                        <a:rPr lang="en-IN" dirty="0"/>
                        <a:t>             Chaithra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20221CSG0143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90725852"/>
                  </a:ext>
                </a:extLst>
              </a:tr>
              <a:tr h="312679">
                <a:tc>
                  <a:txBody>
                    <a:bodyPr/>
                    <a:lstStyle/>
                    <a:p>
                      <a:r>
                        <a:rPr lang="en-IN" dirty="0"/>
                        <a:t>              Kavya Shree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20221CSG0149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93978170"/>
                  </a:ext>
                </a:extLst>
              </a:tr>
              <a:tr h="312679">
                <a:tc>
                  <a:txBody>
                    <a:bodyPr/>
                    <a:lstStyle/>
                    <a:p>
                      <a:r>
                        <a:rPr lang="en-IN" dirty="0"/>
                        <a:t>              </a:t>
                      </a:r>
                      <a:r>
                        <a:rPr lang="en-IN" dirty="0" err="1"/>
                        <a:t>Monisha</a:t>
                      </a:r>
                      <a:r>
                        <a:rPr lang="en-IN" dirty="0"/>
                        <a:t>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20221CAI0159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05614630"/>
                  </a:ext>
                </a:extLst>
              </a:tr>
              <a:tr h="312679">
                <a:tc>
                  <a:txBody>
                    <a:bodyPr/>
                    <a:lstStyle/>
                    <a:p>
                      <a:r>
                        <a:rPr lang="en-IN" dirty="0"/>
                        <a:t>              Sahana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20221CAI0133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46673497"/>
                  </a:ext>
                </a:extLst>
              </a:tr>
              <a:tr h="312679">
                <a:tc>
                  <a:txBody>
                    <a:bodyPr/>
                    <a:lstStyle/>
                    <a:p>
                      <a:r>
                        <a:rPr lang="en-IN" dirty="0"/>
                        <a:t>              Bhavya P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20221EEE0008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47256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468273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water resource management using raspberry pi for water harvesting applications: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Freshwater scarcity is a growing global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challenge,impacting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agriculture,ecosystem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human health.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water management systems are often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inefficient,leading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water wastage and uneven distribution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patterns are becoming increasingly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erractic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climate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change,further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exacerbating water scarcity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6428933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95F4C-44D2-4F45-A0AC-21646A9D27BF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4" name="TextBox 3"/>
          <p:cNvSpPr txBox="1"/>
          <p:nvPr/>
        </p:nvSpPr>
        <p:spPr>
          <a:xfrm flipH="1">
            <a:off x="3141616" y="1632857"/>
            <a:ext cx="372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516916" y="275453"/>
            <a:ext cx="10361023" cy="1051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Required: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26BB12B-68F6-F338-DFBE-F77FD6E8C15F}"/>
              </a:ext>
            </a:extLst>
          </p:cNvPr>
          <p:cNvSpPr txBox="1"/>
          <p:nvPr/>
        </p:nvSpPr>
        <p:spPr>
          <a:xfrm>
            <a:off x="354563" y="1327023"/>
            <a:ext cx="1126205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Sensors:                                              Other Components:</a:t>
            </a:r>
          </a:p>
          <a:p>
            <a:r>
              <a:rPr lang="en-IN" dirty="0"/>
              <a:t>1. Rain Gauge                                                                         1. Raspberry Pi</a:t>
            </a:r>
          </a:p>
          <a:p>
            <a:r>
              <a:rPr lang="en-IN" dirty="0"/>
              <a:t>2. Water level Sensor                                                            2. Power Supply</a:t>
            </a:r>
          </a:p>
          <a:p>
            <a:r>
              <a:rPr lang="en-IN" dirty="0"/>
              <a:t>3. Turbidity Sensor                                                                3. Data Logging Module</a:t>
            </a:r>
          </a:p>
          <a:p>
            <a:r>
              <a:rPr lang="en-IN" dirty="0"/>
              <a:t>4. Ph Sensor                                                                           4. Communication Module</a:t>
            </a:r>
          </a:p>
          <a:p>
            <a:r>
              <a:rPr lang="en-IN" dirty="0"/>
              <a:t>5. Soil Moisturizer1                                                               5. User Interface</a:t>
            </a:r>
          </a:p>
          <a:p>
            <a:endParaRPr lang="en-IN" sz="2800" dirty="0"/>
          </a:p>
          <a:p>
            <a:r>
              <a:rPr lang="en-IN" sz="2800" dirty="0" err="1"/>
              <a:t>Acutators</a:t>
            </a:r>
            <a:r>
              <a:rPr lang="en-IN" sz="2800" dirty="0"/>
              <a:t>:</a:t>
            </a:r>
          </a:p>
          <a:p>
            <a:r>
              <a:rPr lang="en-IN" dirty="0"/>
              <a:t>1.Solenoid Valves</a:t>
            </a:r>
          </a:p>
          <a:p>
            <a:r>
              <a:rPr lang="en-IN" dirty="0"/>
              <a:t>2. Pumps</a:t>
            </a:r>
          </a:p>
          <a:p>
            <a:r>
              <a:rPr lang="en-IN" dirty="0"/>
              <a:t>3.Motors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546674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8518C654-DA53-16FA-2E54-CAD283724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95F4C-44D2-4F45-A0AC-21646A9D27BF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2B0C432-85ED-A832-6AD1-C3DEB6A74ECC}"/>
              </a:ext>
            </a:extLst>
          </p:cNvPr>
          <p:cNvSpPr txBox="1"/>
          <p:nvPr/>
        </p:nvSpPr>
        <p:spPr>
          <a:xfrm>
            <a:off x="466532" y="149289"/>
            <a:ext cx="114579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00B0F0"/>
                </a:solidFill>
              </a:rPr>
              <a:t>Challenges Faced: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33891B5-361C-8D6C-1F16-381E3164D2AC}"/>
              </a:ext>
            </a:extLst>
          </p:cNvPr>
          <p:cNvSpPr txBox="1"/>
          <p:nvPr/>
        </p:nvSpPr>
        <p:spPr>
          <a:xfrm>
            <a:off x="718457" y="1026367"/>
            <a:ext cx="84278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System robustness and reliability </a:t>
            </a:r>
          </a:p>
          <a:p>
            <a:pPr marL="342900" indent="-342900">
              <a:buAutoNum type="arabicPeriod"/>
            </a:pPr>
            <a:r>
              <a:rPr lang="en-IN" dirty="0"/>
              <a:t>Weatherproofing</a:t>
            </a:r>
          </a:p>
          <a:p>
            <a:pPr marL="342900" indent="-342900">
              <a:buAutoNum type="arabicPeriod"/>
            </a:pPr>
            <a:r>
              <a:rPr lang="en-IN" dirty="0"/>
              <a:t>Power management</a:t>
            </a:r>
          </a:p>
          <a:p>
            <a:pPr marL="342900" indent="-342900">
              <a:buAutoNum type="arabicPeriod"/>
            </a:pPr>
            <a:r>
              <a:rPr lang="en-IN" dirty="0"/>
              <a:t>Water quality and treatment</a:t>
            </a:r>
          </a:p>
          <a:p>
            <a:pPr marL="342900" indent="-342900">
              <a:buAutoNum type="arabicPeriod"/>
            </a:pPr>
            <a:r>
              <a:rPr lang="en-IN" dirty="0"/>
              <a:t>Cost and scalability</a:t>
            </a:r>
          </a:p>
          <a:p>
            <a:pPr marL="342900" indent="-342900">
              <a:buAutoNum type="arabicPeriod"/>
            </a:pPr>
            <a:r>
              <a:rPr lang="en-IN" dirty="0"/>
              <a:t>Component costs</a:t>
            </a:r>
          </a:p>
          <a:p>
            <a:pPr marL="342900" indent="-342900">
              <a:buAutoNum type="arabicPeriod"/>
            </a:pPr>
            <a:r>
              <a:rPr lang="en-IN" dirty="0"/>
              <a:t>Scalability limitations</a:t>
            </a:r>
          </a:p>
          <a:p>
            <a:pPr marL="342900" indent="-342900">
              <a:buAutoNum type="arabicPeriod"/>
            </a:pPr>
            <a:r>
              <a:rPr lang="en-IN" dirty="0"/>
              <a:t>Maintenance and upkeep</a:t>
            </a:r>
          </a:p>
        </p:txBody>
      </p:sp>
    </p:spTree>
    <p:extLst>
      <p:ext uri="{BB962C8B-B14F-4D97-AF65-F5344CB8AC3E}">
        <p14:creationId xmlns:p14="http://schemas.microsoft.com/office/powerpoint/2010/main" val="846746745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95F4C-44D2-4F45-A0AC-21646A9D27BF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4" name="Rectangle 3"/>
          <p:cNvSpPr/>
          <p:nvPr/>
        </p:nvSpPr>
        <p:spPr>
          <a:xfrm>
            <a:off x="168442" y="232611"/>
            <a:ext cx="94648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Circuit/Block </a:t>
            </a:r>
            <a:r>
              <a:rPr lang="en-US" sz="3200" dirty="0" err="1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Daigram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915" y="1168400"/>
            <a:ext cx="3857625" cy="434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173844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6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975439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140978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677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phase</a:t>
            </a:r>
          </a:p>
        </p:txBody>
      </p:sp>
    </p:spTree>
    <p:extLst>
      <p:ext uri="{BB962C8B-B14F-4D97-AF65-F5344CB8AC3E}">
        <p14:creationId xmlns:p14="http://schemas.microsoft.com/office/powerpoint/2010/main" val="2235674506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7734</TotalTime>
  <Words>290</Words>
  <Application>Microsoft Office PowerPoint</Application>
  <PresentationFormat>Custom</PresentationFormat>
  <Paragraphs>71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Innovative Projects Using Raspberry Pi  (ECE2011)  Phase –III Review Presentation   WATER HARVESTING </vt:lpstr>
      <vt:lpstr>Problem Statement Description</vt:lpstr>
      <vt:lpstr>PowerPoint Presentation</vt:lpstr>
      <vt:lpstr>PowerPoint Presentation</vt:lpstr>
      <vt:lpstr>PowerPoint Presentation</vt:lpstr>
      <vt:lpstr>PowerPoint Presentation</vt:lpstr>
      <vt:lpstr>Project Timeline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SABHAPATHY M</cp:lastModifiedBy>
  <cp:revision>891</cp:revision>
  <cp:lastPrinted>2018-07-24T06:37:20Z</cp:lastPrinted>
  <dcterms:created xsi:type="dcterms:W3CDTF">2018-06-07T04:06:17Z</dcterms:created>
  <dcterms:modified xsi:type="dcterms:W3CDTF">2024-05-26T16:21:27Z</dcterms:modified>
</cp:coreProperties>
</file>